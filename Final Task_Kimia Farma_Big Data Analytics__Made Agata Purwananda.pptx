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1" r:id="rId3"/>
    <p:sldId id="267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65" r:id="rId12"/>
    <p:sldId id="266" r:id="rId13"/>
  </p:sldIdLst>
  <p:sldSz cx="9144000" cy="5143500" type="screen16x9"/>
  <p:notesSz cx="6858000" cy="9144000"/>
  <p:embeddedFontLst>
    <p:embeddedFont>
      <p:font typeface="Rubik" panose="020B0604020202020204" charset="-79"/>
      <p:regular r:id="rId15"/>
      <p:bold r:id="rId16"/>
      <p:italic r:id="rId17"/>
      <p:boldItalic r:id="rId18"/>
    </p:embeddedFont>
    <p:embeddedFont>
      <p:font typeface="Rubik Light" panose="020B0604020202020204" charset="-79"/>
      <p:regular r:id="rId19"/>
      <p:bold r:id="rId20"/>
      <p:italic r:id="rId21"/>
      <p:boldItalic r:id="rId22"/>
    </p:embeddedFont>
    <p:embeddedFont>
      <p:font typeface="Rubik Medium" panose="020B0604020202020204" charset="-79"/>
      <p:regular r:id="rId23"/>
      <p:bold r:id="rId24"/>
      <p:italic r:id="rId25"/>
      <p:boldItalic r:id="rId26"/>
    </p:embeddedFont>
    <p:embeddedFont>
      <p:font typeface="Rubik SemiBold" panose="020B0604020202020204" charset="-79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i1nl8uAJepcjcA2CnLI/GAkZtj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A1AD"/>
    <a:srgbClr val="0290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688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45037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97862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7596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551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295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246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65ee868302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g265ee868302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8933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3ec2985a68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23ec2985a68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agatapurwa/Home-Credit-x-Rakamin-VIX" TargetMode="Externa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517899" y="2022863"/>
            <a:ext cx="6239100" cy="56935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2500" b="1" dirty="0">
                <a:solidFill>
                  <a:schemeClr val="lt1"/>
                </a:solidFill>
                <a:latin typeface="Rubik SemiBold"/>
                <a:cs typeface="Rubik SemiBold"/>
              </a:rPr>
              <a:t>Home Credit Default Risk Prediction</a:t>
            </a:r>
            <a:endParaRPr lang="fi-FI" sz="2500" b="1" dirty="0">
              <a:solidFill>
                <a:schemeClr val="lt1"/>
              </a:solidFill>
              <a:latin typeface="Rubik SemiBold"/>
              <a:cs typeface="Rubik SemiBold"/>
              <a:sym typeface="Rubik"/>
            </a:endParaRPr>
          </a:p>
        </p:txBody>
      </p:sp>
      <p:sp>
        <p:nvSpPr>
          <p:cNvPr id="58" name="Google Shape;58;p1"/>
          <p:cNvSpPr/>
          <p:nvPr/>
        </p:nvSpPr>
        <p:spPr>
          <a:xfrm>
            <a:off x="6757125" y="-621925"/>
            <a:ext cx="3135000" cy="3051000"/>
          </a:xfrm>
          <a:prstGeom prst="ellips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517899" y="2787696"/>
            <a:ext cx="4532565" cy="95407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Presented by</a:t>
            </a:r>
            <a:endParaRPr sz="2000" b="1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3000" dirty="0">
                <a:solidFill>
                  <a:schemeClr val="lt1"/>
                </a:solidFill>
                <a:latin typeface="Rubik Light"/>
                <a:ea typeface="Rubik Light"/>
                <a:cs typeface="Rubik Light"/>
                <a:sym typeface="Rubik Light"/>
              </a:rPr>
              <a:t>Made Agata Purwananda</a:t>
            </a:r>
            <a:endParaRPr sz="3000" b="0" i="0" u="none" strike="noStrike" cap="none" dirty="0">
              <a:solidFill>
                <a:schemeClr val="lt1"/>
              </a:solidFill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11" name="Google Shape;57;p1">
            <a:extLst>
              <a:ext uri="{FF2B5EF4-FFF2-40B4-BE49-F238E27FC236}">
                <a16:creationId xmlns:a16="http://schemas.microsoft.com/office/drawing/2014/main" id="{3DBA6FD4-D10D-497D-89B9-3400B1C89922}"/>
              </a:ext>
            </a:extLst>
          </p:cNvPr>
          <p:cNvSpPr txBox="1"/>
          <p:nvPr/>
        </p:nvSpPr>
        <p:spPr>
          <a:xfrm>
            <a:off x="517899" y="2402962"/>
            <a:ext cx="7289100" cy="49241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000" dirty="0">
                <a:solidFill>
                  <a:schemeClr val="lt1"/>
                </a:solidFill>
                <a:latin typeface="Rubik Light"/>
                <a:cs typeface="Rubik Light"/>
                <a:sym typeface="Rubik SemiBold"/>
              </a:rPr>
              <a:t>Predicting Default Probability Using Machine Learning</a:t>
            </a:r>
            <a:endParaRPr sz="2000" dirty="0">
              <a:solidFill>
                <a:schemeClr val="lt1"/>
              </a:solidFill>
              <a:latin typeface="Rubik Light"/>
              <a:cs typeface="Rubik Light"/>
              <a:sym typeface="Rubik SemiBold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8F62675F-8F51-46A0-8CF3-43DB7F289E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061" y="591446"/>
            <a:ext cx="1475128" cy="624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57;p1">
            <a:extLst>
              <a:ext uri="{FF2B5EF4-FFF2-40B4-BE49-F238E27FC236}">
                <a16:creationId xmlns:a16="http://schemas.microsoft.com/office/drawing/2014/main" id="{131F9439-9B6C-43B5-BCFC-1717FFDE19F4}"/>
              </a:ext>
            </a:extLst>
          </p:cNvPr>
          <p:cNvSpPr txBox="1"/>
          <p:nvPr/>
        </p:nvSpPr>
        <p:spPr>
          <a:xfrm>
            <a:off x="517899" y="3741773"/>
            <a:ext cx="7289100" cy="95407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1" dirty="0">
                <a:solidFill>
                  <a:schemeClr val="lt1"/>
                </a:solidFill>
                <a:latin typeface="Rubik SemiBold"/>
                <a:cs typeface="Rubik SemiBold"/>
              </a:rPr>
              <a:t>Data Science Project-Based Internship – </a:t>
            </a:r>
            <a:r>
              <a:rPr lang="en-US" sz="2500" b="1" dirty="0" err="1">
                <a:solidFill>
                  <a:schemeClr val="lt1"/>
                </a:solidFill>
                <a:latin typeface="Rubik SemiBold"/>
                <a:cs typeface="Rubik SemiBold"/>
              </a:rPr>
              <a:t>Rakamin</a:t>
            </a:r>
            <a:r>
              <a:rPr lang="en-US" sz="2500" b="1" dirty="0">
                <a:solidFill>
                  <a:schemeClr val="lt1"/>
                </a:solidFill>
                <a:latin typeface="Rubik SemiBold"/>
                <a:cs typeface="Rubik SemiBold"/>
              </a:rPr>
              <a:t> Academy x Home Credit Indonesia</a:t>
            </a:r>
            <a:endParaRPr sz="2500" b="1" dirty="0">
              <a:solidFill>
                <a:schemeClr val="lt1"/>
              </a:solidFill>
              <a:latin typeface="Rubik SemiBold"/>
              <a:cs typeface="Rubik SemiBold"/>
              <a:sym typeface="Rubik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77202" y="1156546"/>
            <a:ext cx="8340300" cy="2331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Konteks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: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Institusi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keuangan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menghadapi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risiko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tinggi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saat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meminjamkan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dana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kepada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tanpa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riwayat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kredit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tradisional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yang cukup. 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Tujuan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Bisnis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: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Membangun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model machine learning yang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tangguh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untuk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memprediksi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kemampuan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bayar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secara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akurat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Dampak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 yang </a:t>
            </a: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Diharapkan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: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Meminimalkan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penolakan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terhadap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yang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sebenarnya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mampu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membayar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meningkatkan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revenue),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sekaligus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menekan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risiko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kredit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macet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meminimalkan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kerugian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).</a:t>
            </a:r>
          </a:p>
          <a:p>
            <a:pPr algn="just">
              <a:lnSpc>
                <a:spcPct val="115000"/>
              </a:lnSpc>
              <a:buClr>
                <a:schemeClr val="dk1"/>
              </a:buClr>
              <a:buSzPts val="1100"/>
            </a:pPr>
            <a:endParaRPr lang="en-ID" sz="1500" dirty="0">
              <a:solidFill>
                <a:schemeClr val="tx1"/>
              </a:solidFill>
              <a:latin typeface="Nunito-Sans"/>
            </a:endParaRPr>
          </a:p>
          <a:p>
            <a:pPr algn="just">
              <a:lnSpc>
                <a:spcPct val="115000"/>
              </a:lnSpc>
              <a:buClr>
                <a:schemeClr val="dk1"/>
              </a:buClr>
              <a:buSzPts val="1100"/>
            </a:pPr>
            <a:endParaRPr lang="en-ID" sz="1500" dirty="0">
              <a:solidFill>
                <a:schemeClr val="tx1"/>
              </a:solidFill>
              <a:latin typeface="Nunito-Sans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6465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Pro</a:t>
            </a:r>
            <a:r>
              <a:rPr lang="en-ID" sz="3000" b="1" dirty="0" err="1">
                <a:latin typeface="Rubik"/>
                <a:ea typeface="Rubik"/>
                <a:cs typeface="Rubik"/>
                <a:sym typeface="Rubik"/>
              </a:rPr>
              <a:t>blem</a:t>
            </a:r>
            <a:r>
              <a:rPr lang="en" sz="3000" b="1" dirty="0"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" sz="3000" b="1" dirty="0">
                <a:solidFill>
                  <a:schemeClr val="accent5"/>
                </a:solidFill>
                <a:latin typeface="Rubik"/>
                <a:ea typeface="Rubik"/>
                <a:cs typeface="Rubik"/>
                <a:sym typeface="Rubik"/>
              </a:rPr>
              <a:t>Statement</a:t>
            </a:r>
            <a:endParaRPr sz="3000" b="1" i="0" u="none" strike="noStrike" cap="none" dirty="0">
              <a:solidFill>
                <a:schemeClr val="accent5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CD08B2-91D8-4551-A6BF-D84C363C1B93}"/>
              </a:ext>
            </a:extLst>
          </p:cNvPr>
          <p:cNvSpPr/>
          <p:nvPr/>
        </p:nvSpPr>
        <p:spPr>
          <a:xfrm>
            <a:off x="1670631" y="2941750"/>
            <a:ext cx="1541720" cy="8931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latin typeface="Nunito-Sans"/>
              </a:rPr>
              <a:t>Dataset Overview</a:t>
            </a:r>
            <a:endParaRPr lang="en-ID" i="1" dirty="0">
              <a:latin typeface="Nunito-San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F6431D-72B0-4F33-A37E-B565DEB8CD26}"/>
              </a:ext>
            </a:extLst>
          </p:cNvPr>
          <p:cNvSpPr/>
          <p:nvPr/>
        </p:nvSpPr>
        <p:spPr>
          <a:xfrm>
            <a:off x="3796263" y="2941752"/>
            <a:ext cx="1541720" cy="8931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>
                <a:latin typeface="Nunito-Sans"/>
              </a:rPr>
              <a:t>Data </a:t>
            </a:r>
            <a:r>
              <a:rPr lang="en-ID" i="1" dirty="0">
                <a:latin typeface="Nunito-Sans"/>
              </a:rPr>
              <a:t>Pre-Processing</a:t>
            </a:r>
            <a:r>
              <a:rPr lang="en-ID" dirty="0">
                <a:latin typeface="Nunito-Sans"/>
              </a:rPr>
              <a:t> &amp; </a:t>
            </a:r>
            <a:r>
              <a:rPr lang="en-ID" i="1" dirty="0">
                <a:latin typeface="Nunito-Sans"/>
              </a:rPr>
              <a:t>Anomaly Handling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12C1725-E122-46DB-9724-4505BCE281B5}"/>
              </a:ext>
            </a:extLst>
          </p:cNvPr>
          <p:cNvCxnSpPr/>
          <p:nvPr/>
        </p:nvCxnSpPr>
        <p:spPr>
          <a:xfrm>
            <a:off x="3222105" y="3388318"/>
            <a:ext cx="574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A272BE8-55C9-47A1-9C29-C435ABDDD2C2}"/>
              </a:ext>
            </a:extLst>
          </p:cNvPr>
          <p:cNvSpPr/>
          <p:nvPr/>
        </p:nvSpPr>
        <p:spPr>
          <a:xfrm>
            <a:off x="5921895" y="2930011"/>
            <a:ext cx="1541720" cy="8931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latin typeface="Nunito-Sans"/>
              </a:rPr>
              <a:t>Bussines</a:t>
            </a:r>
            <a:r>
              <a:rPr lang="en-US" i="1" dirty="0">
                <a:latin typeface="Nunito-Sans"/>
              </a:rPr>
              <a:t> Insight</a:t>
            </a:r>
            <a:endParaRPr lang="en-ID" i="1" dirty="0">
              <a:latin typeface="Nunito-Sans"/>
            </a:endParaRPr>
          </a:p>
        </p:txBody>
      </p:sp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F54AD9A6-C71C-4599-9EBC-C285F99D43E1}"/>
              </a:ext>
            </a:extLst>
          </p:cNvPr>
          <p:cNvSpPr/>
          <p:nvPr/>
        </p:nvSpPr>
        <p:spPr>
          <a:xfrm>
            <a:off x="7473369" y="3376578"/>
            <a:ext cx="574158" cy="1169122"/>
          </a:xfrm>
          <a:prstGeom prst="curvedLef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E534595-C913-4983-94D4-EEA2D33D3109}"/>
              </a:ext>
            </a:extLst>
          </p:cNvPr>
          <p:cNvCxnSpPr/>
          <p:nvPr/>
        </p:nvCxnSpPr>
        <p:spPr>
          <a:xfrm>
            <a:off x="5337983" y="3388317"/>
            <a:ext cx="574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9B1A248-7BE3-4B7B-8E68-1528A57D9F72}"/>
              </a:ext>
            </a:extLst>
          </p:cNvPr>
          <p:cNvSpPr/>
          <p:nvPr/>
        </p:nvSpPr>
        <p:spPr>
          <a:xfrm>
            <a:off x="5912141" y="3986954"/>
            <a:ext cx="1541720" cy="8931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>
                <a:latin typeface="Nunito-Sans"/>
              </a:rPr>
              <a:t>Algoritma</a:t>
            </a:r>
            <a:r>
              <a:rPr lang="en-US" dirty="0">
                <a:latin typeface="Nunito-Sans"/>
              </a:rPr>
              <a:t> &amp; </a:t>
            </a:r>
            <a:r>
              <a:rPr lang="en-US" dirty="0" err="1">
                <a:latin typeface="Nunito-Sans"/>
              </a:rPr>
              <a:t>Pemodelan</a:t>
            </a:r>
            <a:r>
              <a:rPr lang="en-US" dirty="0">
                <a:latin typeface="Nunito-Sans"/>
              </a:rPr>
              <a:t> </a:t>
            </a:r>
            <a:r>
              <a:rPr lang="en-US" i="1" dirty="0">
                <a:latin typeface="Nunito-Sans"/>
              </a:rPr>
              <a:t>Machine Learning</a:t>
            </a:r>
            <a:endParaRPr lang="en-ID" i="1" dirty="0">
              <a:latin typeface="Nunito-San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D7F0594-7ECA-4FB4-98A4-2C2194AE6B42}"/>
              </a:ext>
            </a:extLst>
          </p:cNvPr>
          <p:cNvSpPr/>
          <p:nvPr/>
        </p:nvSpPr>
        <p:spPr>
          <a:xfrm>
            <a:off x="1675508" y="3986952"/>
            <a:ext cx="1541720" cy="8931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i="1" dirty="0">
                <a:latin typeface="Nunito-Sans"/>
              </a:rPr>
              <a:t>Feature Importance &amp; Business Strategy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027799A-3949-4F65-BD07-69CEBC880F82}"/>
              </a:ext>
            </a:extLst>
          </p:cNvPr>
          <p:cNvSpPr/>
          <p:nvPr/>
        </p:nvSpPr>
        <p:spPr>
          <a:xfrm>
            <a:off x="3801140" y="3986954"/>
            <a:ext cx="1541720" cy="89313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D" dirty="0" err="1">
                <a:latin typeface="Nunito-Sans"/>
              </a:rPr>
              <a:t>Evaluasi</a:t>
            </a:r>
            <a:r>
              <a:rPr lang="en-ID" dirty="0">
                <a:latin typeface="Nunito-Sans"/>
              </a:rPr>
              <a:t> Performa Model (ROC-AUC)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D0F7CA6-DCA6-4BFD-8147-F6252F8DBFCA}"/>
              </a:ext>
            </a:extLst>
          </p:cNvPr>
          <p:cNvCxnSpPr>
            <a:cxnSpLocks/>
          </p:cNvCxnSpPr>
          <p:nvPr/>
        </p:nvCxnSpPr>
        <p:spPr>
          <a:xfrm flipH="1">
            <a:off x="3226982" y="4433520"/>
            <a:ext cx="574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FEF3A62-21C4-4142-844B-C5C966598FE6}"/>
              </a:ext>
            </a:extLst>
          </p:cNvPr>
          <p:cNvCxnSpPr>
            <a:cxnSpLocks/>
          </p:cNvCxnSpPr>
          <p:nvPr/>
        </p:nvCxnSpPr>
        <p:spPr>
          <a:xfrm flipH="1">
            <a:off x="5342860" y="4433519"/>
            <a:ext cx="5741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77202" y="1395529"/>
            <a:ext cx="8340300" cy="302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Data Utama (</a:t>
            </a: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Demografi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 &amp; Target):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Berasal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dari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application_train.csv (307.511 baris).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Ditemukan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bahwa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data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sangat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imbalanced: 91,9%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pengajuan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lancar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(0) dan hanya 8,1% yang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berisiko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macet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(1).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Data </a:t>
            </a: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Relasional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 (</a:t>
            </a: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Histori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 Kredit):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500" b="1" dirty="0">
              <a:solidFill>
                <a:schemeClr val="tx1"/>
              </a:solidFill>
              <a:latin typeface="Nunito-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500" b="1" dirty="0">
              <a:solidFill>
                <a:schemeClr val="tx1"/>
              </a:solidFill>
              <a:latin typeface="Nunito-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500" b="1" dirty="0">
              <a:solidFill>
                <a:schemeClr val="tx1"/>
              </a:solidFill>
              <a:latin typeface="Nunito-Sans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500" b="1" dirty="0">
              <a:solidFill>
                <a:schemeClr val="tx1"/>
              </a:solidFill>
              <a:latin typeface="Nunito-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Hasil </a:t>
            </a: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Penggabungan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: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Menghasilkan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135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fitur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analitik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yang kaya dan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komprehensif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algn="just">
              <a:lnSpc>
                <a:spcPct val="115000"/>
              </a:lnSpc>
              <a:buClr>
                <a:schemeClr val="dk1"/>
              </a:buClr>
              <a:buSzPts val="1100"/>
            </a:pPr>
            <a:endParaRPr lang="en-ID" sz="1500" dirty="0">
              <a:solidFill>
                <a:schemeClr val="tx1"/>
              </a:solidFill>
              <a:latin typeface="Nunito-Sans"/>
            </a:endParaRPr>
          </a:p>
          <a:p>
            <a:pPr algn="just">
              <a:lnSpc>
                <a:spcPct val="115000"/>
              </a:lnSpc>
              <a:buClr>
                <a:schemeClr val="dk1"/>
              </a:buClr>
              <a:buSzPts val="1100"/>
            </a:pPr>
            <a:endParaRPr lang="en-ID" sz="1500" dirty="0">
              <a:solidFill>
                <a:schemeClr val="tx1"/>
              </a:solidFill>
              <a:latin typeface="Nunito-Sans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646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/>
            </a:pPr>
            <a:r>
              <a:rPr lang="en-ID" sz="3000" b="1" dirty="0">
                <a:latin typeface="Rubik"/>
                <a:ea typeface="Rubik"/>
                <a:cs typeface="Rubik"/>
                <a:sym typeface="Rubik"/>
              </a:rPr>
              <a:t>Dataset </a:t>
            </a:r>
            <a:r>
              <a:rPr lang="en-ID" sz="3000" b="1" dirty="0">
                <a:solidFill>
                  <a:schemeClr val="accent5"/>
                </a:solidFill>
                <a:latin typeface="Rubik"/>
                <a:cs typeface="Rubik"/>
                <a:sym typeface="Rubik"/>
              </a:rPr>
              <a:t>Overview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39C9F2-A75D-4C70-BA75-CC59536CF1E0}"/>
              </a:ext>
            </a:extLst>
          </p:cNvPr>
          <p:cNvSpPr txBox="1"/>
          <p:nvPr/>
        </p:nvSpPr>
        <p:spPr>
          <a:xfrm>
            <a:off x="727734" y="2515051"/>
            <a:ext cx="798976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bureau.csv: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Menambahkan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riwayat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pinjaman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di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institusi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keuangan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/bank lain. </a:t>
            </a:r>
          </a:p>
          <a:p>
            <a:pPr marL="285750" lvl="3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previous_application.csv: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Menambahkan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riwayat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pengajuan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pinjaman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di Home Credit sebelumnya.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2070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77202" y="1663757"/>
            <a:ext cx="8340300" cy="3220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Edge Case Mitigation: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Ditemukan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anomali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ekstrem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berupa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nilai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365243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hari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(sekitar 1000 tahun) pada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kolom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DAYS_EMPLOYED. Nilai ini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diubah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menjadi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NaN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agar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tidak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merusak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distribusi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</a:t>
            </a:r>
            <a:r>
              <a:rPr lang="en-US" altLang="en-US" sz="1500" i="1" dirty="0">
                <a:solidFill>
                  <a:schemeClr val="tx1"/>
                </a:solidFill>
                <a:latin typeface="Nunito-Sans"/>
              </a:rPr>
              <a:t>skewness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)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statistik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umur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Feature Engineering Waktu: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Mengonversi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nilai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waktu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negatif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pada DAYS_BIRTH dan DAYS_EMPLOYED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menjadi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umur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dalam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satuan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i="1" dirty="0">
                <a:solidFill>
                  <a:schemeClr val="tx1"/>
                </a:solidFill>
                <a:latin typeface="Nunito-Sans"/>
              </a:rPr>
              <a:t>Tahun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positif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) agar lebih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mudah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diinterpretasikan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oleh model dan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tim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bisnis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285750" lvl="2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Enterprise-Grade Pipeline: 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Menggunakan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ColumnTransformer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(Scikit-Learn)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untuk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otomatisasi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imputasi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Median &amp;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StandardScaler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pada data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numerik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,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serta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imputasi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Mode &amp;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OneHotEncoder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pada data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kategorikal</a:t>
            </a: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ID" sz="1500" dirty="0">
              <a:solidFill>
                <a:schemeClr val="tx1"/>
              </a:solidFill>
              <a:latin typeface="Nunito-Sans"/>
            </a:endParaRPr>
          </a:p>
          <a:p>
            <a:pPr algn="just">
              <a:lnSpc>
                <a:spcPct val="115000"/>
              </a:lnSpc>
              <a:buClr>
                <a:schemeClr val="dk1"/>
              </a:buClr>
              <a:buSzPts val="1100"/>
            </a:pPr>
            <a:endParaRPr lang="en-ID" sz="1500" dirty="0">
              <a:solidFill>
                <a:schemeClr val="tx1"/>
              </a:solidFill>
              <a:latin typeface="Nunito-Sans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110796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0" indent="-514350">
              <a:buSzPts val="2700"/>
              <a:buFont typeface="+mj-lt"/>
              <a:buAutoNum type="arabicPeriod" startAt="2"/>
            </a:pPr>
            <a:r>
              <a:rPr lang="en-ID" sz="3000" b="1" dirty="0">
                <a:latin typeface="Rubik"/>
                <a:cs typeface="Rubik"/>
              </a:rPr>
              <a:t>Data Pre-Processing &amp; </a:t>
            </a: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Anomaly Handling</a:t>
            </a:r>
            <a:endParaRPr lang="en-ID" sz="3000" b="1" dirty="0">
              <a:solidFill>
                <a:srgbClr val="11A1AD"/>
              </a:solidFill>
              <a:latin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3541204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77202" y="1663757"/>
            <a:ext cx="8340300" cy="229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Insight: 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Nilai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anomali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365243 pada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fitur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DAYS_EMPLOYED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bukan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sekadar </a:t>
            </a:r>
            <a:r>
              <a:rPr lang="en-US" altLang="en-US" sz="1500" i="1" dirty="0">
                <a:solidFill>
                  <a:schemeClr val="tx1"/>
                </a:solidFill>
                <a:latin typeface="Nunito-Sans"/>
              </a:rPr>
              <a:t>error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sistem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,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melainkan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i="1" dirty="0">
                <a:solidFill>
                  <a:schemeClr val="tx1"/>
                </a:solidFill>
                <a:latin typeface="Nunito-Sans"/>
              </a:rPr>
              <a:t>default marker 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yang biasanya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merepresentasikan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kelompok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Pensiunan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(Retirees)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atau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mereka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yang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sudah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tidak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memiliki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pekerjaan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formal.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Actionable Recommendation: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Daripada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menolak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kelompok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ini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karena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dianggap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"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tidak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memiliki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penghasilan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tetap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", Home Credit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dapat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merancang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produk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khusus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bernama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"Senior/Pensioner Credit". Limit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pinjaman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untuk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segmen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ini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tidak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dinilai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dari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slip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gaji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bulanan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,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melainkan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dari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rasio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kepemilikan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aset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pendukung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atau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nilai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ID" sz="1500" dirty="0" err="1">
                <a:solidFill>
                  <a:schemeClr val="tx1"/>
                </a:solidFill>
                <a:latin typeface="Nunito-Sans"/>
              </a:rPr>
              <a:t>penjaminan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 (</a:t>
            </a:r>
            <a:r>
              <a:rPr lang="en-ID" sz="1500" i="1" dirty="0">
                <a:solidFill>
                  <a:schemeClr val="tx1"/>
                </a:solidFill>
                <a:latin typeface="Nunito-Sans"/>
              </a:rPr>
              <a:t>collatera</a:t>
            </a:r>
            <a:r>
              <a:rPr lang="en-ID" sz="1500" dirty="0">
                <a:solidFill>
                  <a:schemeClr val="tx1"/>
                </a:solidFill>
                <a:latin typeface="Nunito-Sans"/>
              </a:rPr>
              <a:t>l).</a:t>
            </a:r>
          </a:p>
          <a:p>
            <a:pPr algn="just">
              <a:lnSpc>
                <a:spcPct val="115000"/>
              </a:lnSpc>
              <a:buClr>
                <a:schemeClr val="dk1"/>
              </a:buClr>
              <a:buSzPts val="1100"/>
            </a:pPr>
            <a:endParaRPr lang="en-ID" sz="1500" dirty="0">
              <a:solidFill>
                <a:schemeClr val="tx1"/>
              </a:solidFill>
              <a:latin typeface="Nunito-Sans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110796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0" indent="-514350">
              <a:buSzPts val="2700"/>
              <a:buFont typeface="+mj-lt"/>
              <a:buAutoNum type="arabicPeriod" startAt="3"/>
            </a:pPr>
            <a:r>
              <a:rPr lang="en-ID" sz="3000" b="1" dirty="0" err="1">
                <a:latin typeface="Rubik"/>
                <a:cs typeface="Rubik"/>
              </a:rPr>
              <a:t>Bussiness</a:t>
            </a:r>
            <a:r>
              <a:rPr lang="en-ID" sz="3000" b="1" dirty="0">
                <a:latin typeface="Rubik"/>
                <a:cs typeface="Rubik"/>
              </a:rPr>
              <a:t> Insight 1 – </a:t>
            </a:r>
          </a:p>
          <a:p>
            <a:pPr marL="57150">
              <a:buSzPts val="2700"/>
            </a:pP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     </a:t>
            </a:r>
            <a:r>
              <a:rPr lang="en-ID" sz="100" b="1" dirty="0">
                <a:solidFill>
                  <a:srgbClr val="11A1AD"/>
                </a:solidFill>
                <a:latin typeface="Rubik"/>
                <a:cs typeface="Rubik"/>
              </a:rPr>
              <a:t>          </a:t>
            </a:r>
            <a:r>
              <a:rPr lang="en-ID" sz="3000" b="1" dirty="0" err="1">
                <a:solidFill>
                  <a:srgbClr val="11A1AD"/>
                </a:solidFill>
                <a:latin typeface="Rubik"/>
                <a:cs typeface="Rubik"/>
              </a:rPr>
              <a:t>Kelompok</a:t>
            </a: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</a:t>
            </a:r>
            <a:r>
              <a:rPr lang="en-ID" sz="3000" b="1" dirty="0" err="1">
                <a:solidFill>
                  <a:srgbClr val="11A1AD"/>
                </a:solidFill>
                <a:latin typeface="Rubik"/>
                <a:cs typeface="Rubik"/>
              </a:rPr>
              <a:t>Anomali</a:t>
            </a: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“365243”</a:t>
            </a:r>
            <a:endParaRPr lang="en-ID" sz="3000" b="1" dirty="0">
              <a:solidFill>
                <a:srgbClr val="11A1AD"/>
              </a:solidFill>
              <a:latin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216639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77202" y="1663757"/>
            <a:ext cx="83403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Insight: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Proporsi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gagal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bayar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tertinggi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berasal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dari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yang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tidak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memiliki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jejak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data di bureau.csv maupun previous_application.csv (Blank Credit History/Unbanked).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Sebaliknya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,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dengan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jumlah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riwayat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sukses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di masa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lalu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memiliki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tingkat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gagal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bayar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yang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sangat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rendah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Actionable Recommendation: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Implementasikan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sistem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Fast-Track Auto-Approval (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Persetujuan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Otomatis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Cepat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). Jika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seorang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klien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baru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terdeteksi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memiliki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histori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sukses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di bureau.csv,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mereka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dapat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melompati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verifikasi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manual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panjang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dan langsung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mendapatkan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pencairan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dana. Ini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akan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meningkatkan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i="1" dirty="0">
                <a:solidFill>
                  <a:schemeClr val="tx1"/>
                </a:solidFill>
                <a:latin typeface="Nunito-Sans"/>
              </a:rPr>
              <a:t>Customer Experience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secara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signifikan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. </a:t>
            </a: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110796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0" indent="-514350">
              <a:buSzPts val="2700"/>
              <a:buFont typeface="+mj-lt"/>
              <a:buAutoNum type="arabicPeriod" startAt="4"/>
            </a:pPr>
            <a:r>
              <a:rPr lang="en-ID" sz="3000" b="1" dirty="0" err="1">
                <a:latin typeface="Rubik"/>
                <a:cs typeface="Rubik"/>
              </a:rPr>
              <a:t>Bussiness</a:t>
            </a:r>
            <a:r>
              <a:rPr lang="en-ID" sz="3000" b="1" dirty="0">
                <a:latin typeface="Rubik"/>
                <a:cs typeface="Rubik"/>
              </a:rPr>
              <a:t> Insight 2 – </a:t>
            </a:r>
          </a:p>
          <a:p>
            <a:pPr marL="57150">
              <a:buSzPts val="2700"/>
            </a:pP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     </a:t>
            </a:r>
            <a:r>
              <a:rPr lang="en-ID" sz="100" b="1" dirty="0">
                <a:solidFill>
                  <a:srgbClr val="11A1AD"/>
                </a:solidFill>
                <a:latin typeface="Rubik"/>
                <a:cs typeface="Rubik"/>
              </a:rPr>
              <a:t>          </a:t>
            </a:r>
            <a:r>
              <a:rPr lang="en-ID" sz="3000" b="1" dirty="0" err="1">
                <a:solidFill>
                  <a:srgbClr val="11A1AD"/>
                </a:solidFill>
                <a:latin typeface="Rubik"/>
                <a:cs typeface="Rubik"/>
              </a:rPr>
              <a:t>Perilaku</a:t>
            </a: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</a:t>
            </a:r>
            <a:r>
              <a:rPr lang="en-ID" sz="3000" b="1" dirty="0" err="1">
                <a:solidFill>
                  <a:srgbClr val="11A1AD"/>
                </a:solidFill>
                <a:latin typeface="Rubik"/>
                <a:cs typeface="Rubik"/>
              </a:rPr>
              <a:t>Histori</a:t>
            </a: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</a:t>
            </a:r>
            <a:r>
              <a:rPr lang="en-ID" sz="3000" b="1" dirty="0" err="1">
                <a:solidFill>
                  <a:srgbClr val="11A1AD"/>
                </a:solidFill>
                <a:latin typeface="Rubik"/>
                <a:cs typeface="Rubik"/>
              </a:rPr>
              <a:t>Pinjaman</a:t>
            </a:r>
            <a:endParaRPr lang="en-ID" sz="3000" b="1" dirty="0">
              <a:solidFill>
                <a:srgbClr val="11A1AD"/>
              </a:solidFill>
              <a:latin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2312477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77202" y="1663757"/>
            <a:ext cx="83403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Metodologi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: 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Data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dibagi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(Train-Test Split)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dengan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teknik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i="1" dirty="0">
                <a:solidFill>
                  <a:schemeClr val="tx1"/>
                </a:solidFill>
                <a:latin typeface="Nunito-Sans"/>
              </a:rPr>
              <a:t>Stratify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untuk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menjaga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rasio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imbalanced 91:8 tetap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stabil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di data uji.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Mengaktifkan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class_weight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='balanced' pada </a:t>
            </a:r>
            <a:r>
              <a:rPr lang="en-US" altLang="en-US" sz="1500" dirty="0" err="1">
                <a:solidFill>
                  <a:schemeClr val="tx1"/>
                </a:solidFill>
                <a:latin typeface="Nunito-Sans"/>
              </a:rPr>
              <a:t>algoritma</a:t>
            </a:r>
            <a:r>
              <a:rPr lang="en-US" altLang="en-US" sz="1500" dirty="0">
                <a:solidFill>
                  <a:schemeClr val="tx1"/>
                </a:solidFill>
                <a:latin typeface="Nunito-Sans"/>
              </a:rPr>
              <a:t>.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500" b="1" dirty="0">
              <a:solidFill>
                <a:schemeClr val="tx1"/>
              </a:solidFill>
              <a:latin typeface="Nunito-Sans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Model yang </a:t>
            </a:r>
            <a:r>
              <a:rPr lang="en-US" altLang="en-US" sz="1500" b="1" dirty="0" err="1">
                <a:solidFill>
                  <a:schemeClr val="tx1"/>
                </a:solidFill>
                <a:latin typeface="Nunito-Sans"/>
              </a:rPr>
              <a:t>Dikembangkan</a:t>
            </a: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: </a:t>
            </a:r>
            <a:endParaRPr lang="en-US" altLang="en-US" sz="1500" dirty="0">
              <a:solidFill>
                <a:schemeClr val="tx1"/>
              </a:solidFill>
              <a:latin typeface="Nunito-Sans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110796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0" indent="-514350">
              <a:buSzPts val="2700"/>
              <a:buFont typeface="+mj-lt"/>
              <a:buAutoNum type="arabicPeriod" startAt="5"/>
            </a:pPr>
            <a:r>
              <a:rPr lang="en-ID" sz="3000" b="1" dirty="0" err="1">
                <a:latin typeface="Rubik"/>
                <a:cs typeface="Rubik"/>
              </a:rPr>
              <a:t>Algoritma</a:t>
            </a:r>
            <a:r>
              <a:rPr lang="en-ID" sz="3000" b="1" dirty="0">
                <a:latin typeface="Rubik"/>
                <a:cs typeface="Rubik"/>
              </a:rPr>
              <a:t> &amp; </a:t>
            </a:r>
            <a:r>
              <a:rPr lang="en-ID" sz="3000" b="1" dirty="0" err="1">
                <a:latin typeface="Rubik"/>
                <a:cs typeface="Rubik"/>
              </a:rPr>
              <a:t>Pemodelan</a:t>
            </a:r>
            <a:r>
              <a:rPr lang="en-ID" sz="3000" b="1" dirty="0">
                <a:latin typeface="Rubik"/>
                <a:cs typeface="Rubik"/>
              </a:rPr>
              <a:t> </a:t>
            </a:r>
          </a:p>
          <a:p>
            <a:pPr marL="57150">
              <a:buSzPts val="2700"/>
            </a:pP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     </a:t>
            </a:r>
            <a:r>
              <a:rPr lang="en-ID" sz="100" b="1" dirty="0">
                <a:solidFill>
                  <a:srgbClr val="11A1AD"/>
                </a:solidFill>
                <a:latin typeface="Rubik"/>
                <a:cs typeface="Rubik"/>
              </a:rPr>
              <a:t>          </a:t>
            </a: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Machine Learning</a:t>
            </a:r>
            <a:endParaRPr lang="en-ID" sz="3000" b="1" dirty="0">
              <a:solidFill>
                <a:srgbClr val="11A1AD"/>
              </a:solidFill>
              <a:latin typeface="Rubik"/>
              <a:cs typeface="Rubik"/>
              <a:sym typeface="Rubi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74A1C-B514-4160-AA38-974580EEB4EB}"/>
              </a:ext>
            </a:extLst>
          </p:cNvPr>
          <p:cNvSpPr txBox="1"/>
          <p:nvPr/>
        </p:nvSpPr>
        <p:spPr>
          <a:xfrm>
            <a:off x="680483" y="2726505"/>
            <a:ext cx="803701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Logistic Regression: </a:t>
            </a:r>
            <a:r>
              <a:rPr lang="en-ID" sz="1500" dirty="0" err="1">
                <a:latin typeface="Nunito-Sans"/>
              </a:rPr>
              <a:t>Bertindak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sebagai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i="1" dirty="0">
                <a:latin typeface="Nunito-Sans"/>
              </a:rPr>
              <a:t>baseline model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karena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unggul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dalam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interpretabilitas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bisnis</a:t>
            </a:r>
            <a:r>
              <a:rPr lang="en-ID" sz="1500" dirty="0">
                <a:latin typeface="Nunito-Sans"/>
              </a:rPr>
              <a:t>.</a:t>
            </a: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285750" lvl="3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Random Forest Classifier: </a:t>
            </a:r>
            <a:r>
              <a:rPr lang="en-ID" sz="1500" dirty="0" err="1">
                <a:latin typeface="Nunito-Sans"/>
              </a:rPr>
              <a:t>Digunakan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untuk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menangkap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pola</a:t>
            </a:r>
            <a:r>
              <a:rPr lang="en-ID" sz="1500" dirty="0">
                <a:latin typeface="Nunito-Sans"/>
              </a:rPr>
              <a:t> non-linear yang </a:t>
            </a:r>
            <a:r>
              <a:rPr lang="en-ID" sz="1500" dirty="0" err="1">
                <a:latin typeface="Nunito-Sans"/>
              </a:rPr>
              <a:t>kompleks</a:t>
            </a:r>
            <a:r>
              <a:rPr lang="en-ID" sz="1500" dirty="0">
                <a:latin typeface="Nunito-Sans"/>
              </a:rPr>
              <a:t> dan </a:t>
            </a:r>
            <a:r>
              <a:rPr lang="en-ID" sz="1500" dirty="0" err="1">
                <a:latin typeface="Nunito-Sans"/>
              </a:rPr>
              <a:t>mengekstrak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i="1" dirty="0">
                <a:latin typeface="Nunito-Sans"/>
              </a:rPr>
              <a:t>Feature Importance</a:t>
            </a:r>
            <a:r>
              <a:rPr lang="en-ID" sz="1500" dirty="0">
                <a:latin typeface="Nunito-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solidFill>
                <a:schemeClr val="tx1"/>
              </a:solidFill>
              <a:latin typeface="Nunito-Sans"/>
            </a:endParaRPr>
          </a:p>
        </p:txBody>
      </p:sp>
    </p:spTree>
    <p:extLst>
      <p:ext uri="{BB962C8B-B14F-4D97-AF65-F5344CB8AC3E}">
        <p14:creationId xmlns:p14="http://schemas.microsoft.com/office/powerpoint/2010/main" val="1412640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77202" y="1663757"/>
            <a:ext cx="8340300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5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Logistic Regression: </a:t>
            </a:r>
            <a:r>
              <a:rPr lang="en-US" sz="1500" dirty="0" err="1">
                <a:latin typeface="Nunito-Sans"/>
              </a:rPr>
              <a:t>Menghasilkan</a:t>
            </a:r>
            <a:r>
              <a:rPr lang="en-US" sz="1500" dirty="0">
                <a:latin typeface="Nunito-Sans"/>
              </a:rPr>
              <a:t> </a:t>
            </a:r>
            <a:r>
              <a:rPr lang="en-US" sz="1500" dirty="0" err="1">
                <a:latin typeface="Nunito-Sans"/>
              </a:rPr>
              <a:t>skor</a:t>
            </a:r>
            <a:r>
              <a:rPr lang="en-US" sz="1500" dirty="0">
                <a:latin typeface="Nunito-Sans"/>
              </a:rPr>
              <a:t> ROC-AUC </a:t>
            </a:r>
            <a:r>
              <a:rPr lang="en-US" sz="1500" dirty="0" err="1">
                <a:latin typeface="Nunito-Sans"/>
              </a:rPr>
              <a:t>sebesar</a:t>
            </a:r>
            <a:r>
              <a:rPr lang="en-US" sz="1500" dirty="0">
                <a:latin typeface="Nunito-Sans"/>
              </a:rPr>
              <a:t> 0.7510 (75.1%).</a:t>
            </a:r>
          </a:p>
          <a:p>
            <a:pPr marL="285750" lvl="5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285750" lvl="3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500" b="1" dirty="0">
                <a:solidFill>
                  <a:schemeClr val="tx1"/>
                </a:solidFill>
                <a:latin typeface="Nunito-Sans"/>
              </a:rPr>
              <a:t>Random Forest Classifier: </a:t>
            </a:r>
            <a:r>
              <a:rPr lang="en-US" sz="1500" dirty="0" err="1">
                <a:latin typeface="Nunito-Sans"/>
              </a:rPr>
              <a:t>Menghasilkan</a:t>
            </a:r>
            <a:r>
              <a:rPr lang="en-US" sz="1500" dirty="0">
                <a:latin typeface="Nunito-Sans"/>
              </a:rPr>
              <a:t> </a:t>
            </a:r>
            <a:r>
              <a:rPr lang="en-US" sz="1500" dirty="0" err="1">
                <a:latin typeface="Nunito-Sans"/>
              </a:rPr>
              <a:t>skor</a:t>
            </a:r>
            <a:r>
              <a:rPr lang="en-US" sz="1500" dirty="0">
                <a:latin typeface="Nunito-Sans"/>
              </a:rPr>
              <a:t> ROC-AUC </a:t>
            </a:r>
            <a:r>
              <a:rPr lang="en-US" sz="1500" dirty="0" err="1">
                <a:latin typeface="Nunito-Sans"/>
              </a:rPr>
              <a:t>sebesar</a:t>
            </a:r>
            <a:r>
              <a:rPr lang="en-US" sz="1500" dirty="0">
                <a:latin typeface="Nunito-Sans"/>
              </a:rPr>
              <a:t> 0.7352 (73.5%).</a:t>
            </a:r>
          </a:p>
          <a:p>
            <a:pPr marL="285750" lvl="3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US" sz="1500" dirty="0">
              <a:latin typeface="Nunito-Sans"/>
            </a:endParaRPr>
          </a:p>
          <a:p>
            <a:pPr marL="285750" lvl="3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D" sz="1500" b="1" dirty="0">
                <a:latin typeface="Nunito-Sans"/>
              </a:rPr>
              <a:t>Keputusan Model Final:</a:t>
            </a:r>
            <a:r>
              <a:rPr lang="en-ID" sz="1500" dirty="0">
                <a:latin typeface="Nunito-Sans"/>
              </a:rPr>
              <a:t> Logistic Regression </a:t>
            </a:r>
            <a:r>
              <a:rPr lang="en-ID" sz="1500" dirty="0" err="1">
                <a:latin typeface="Nunito-Sans"/>
              </a:rPr>
              <a:t>terpilih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sebagai</a:t>
            </a:r>
            <a:r>
              <a:rPr lang="en-ID" sz="1500" dirty="0">
                <a:latin typeface="Nunito-Sans"/>
              </a:rPr>
              <a:t> model </a:t>
            </a:r>
            <a:r>
              <a:rPr lang="en-ID" sz="1500" dirty="0" err="1">
                <a:latin typeface="Nunito-Sans"/>
              </a:rPr>
              <a:t>terbaik</a:t>
            </a:r>
            <a:r>
              <a:rPr lang="en-ID" sz="1500" dirty="0">
                <a:latin typeface="Nunito-Sans"/>
              </a:rPr>
              <a:t>. </a:t>
            </a:r>
            <a:r>
              <a:rPr lang="en-ID" sz="1500" dirty="0" err="1">
                <a:latin typeface="Nunito-Sans"/>
              </a:rPr>
              <a:t>Selain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performa</a:t>
            </a:r>
            <a:r>
              <a:rPr lang="en-ID" sz="1500" dirty="0">
                <a:latin typeface="Nunito-Sans"/>
              </a:rPr>
              <a:t> ROC-AUC-</a:t>
            </a:r>
            <a:r>
              <a:rPr lang="en-ID" sz="1500" dirty="0" err="1">
                <a:latin typeface="Nunito-Sans"/>
              </a:rPr>
              <a:t>nya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lebih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tinggi</a:t>
            </a:r>
            <a:r>
              <a:rPr lang="en-ID" sz="1500" dirty="0">
                <a:latin typeface="Nunito-Sans"/>
              </a:rPr>
              <a:t>, Logistic Regression </a:t>
            </a:r>
            <a:r>
              <a:rPr lang="en-ID" sz="1500" dirty="0" err="1">
                <a:latin typeface="Nunito-Sans"/>
              </a:rPr>
              <a:t>memberikan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probabilitas</a:t>
            </a:r>
            <a:r>
              <a:rPr lang="en-ID" sz="1500" dirty="0">
                <a:latin typeface="Nunito-Sans"/>
              </a:rPr>
              <a:t> yang </a:t>
            </a:r>
            <a:r>
              <a:rPr lang="en-ID" sz="1500" dirty="0" err="1">
                <a:latin typeface="Nunito-Sans"/>
              </a:rPr>
              <a:t>lebih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stabil</a:t>
            </a:r>
            <a:r>
              <a:rPr lang="en-ID" sz="1500" dirty="0">
                <a:latin typeface="Nunito-Sans"/>
              </a:rPr>
              <a:t> dan </a:t>
            </a:r>
            <a:r>
              <a:rPr lang="en-ID" sz="1500" dirty="0" err="1">
                <a:latin typeface="Nunito-Sans"/>
              </a:rPr>
              <a:t>metrik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inferensi</a:t>
            </a:r>
            <a:r>
              <a:rPr lang="en-ID" sz="1500" dirty="0">
                <a:latin typeface="Nunito-Sans"/>
              </a:rPr>
              <a:t> yang </a:t>
            </a:r>
            <a:r>
              <a:rPr lang="en-ID" sz="1500" dirty="0" err="1">
                <a:latin typeface="Nunito-Sans"/>
              </a:rPr>
              <a:t>lebih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mudah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dijelaskan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kepada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i="1" dirty="0">
                <a:latin typeface="Nunito-Sans"/>
              </a:rPr>
              <a:t>stakeholder</a:t>
            </a:r>
            <a:r>
              <a:rPr lang="en-ID" sz="1500" dirty="0">
                <a:latin typeface="Nunito-Sans"/>
              </a:rPr>
              <a:t> non-</a:t>
            </a:r>
            <a:r>
              <a:rPr lang="en-ID" sz="1500" dirty="0" err="1">
                <a:latin typeface="Nunito-Sans"/>
              </a:rPr>
              <a:t>teknis</a:t>
            </a:r>
            <a:r>
              <a:rPr lang="en-ID" sz="1500" dirty="0">
                <a:latin typeface="Nunito-Sans"/>
              </a:rPr>
              <a:t>.</a:t>
            </a:r>
            <a:endParaRPr lang="en-US" altLang="en-US" sz="1500" dirty="0">
              <a:solidFill>
                <a:schemeClr val="tx1"/>
              </a:solidFill>
              <a:latin typeface="Nunito-Sans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110796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0" indent="-514350">
              <a:buSzPts val="2700"/>
              <a:buFont typeface="+mj-lt"/>
              <a:buAutoNum type="arabicPeriod" startAt="6"/>
            </a:pPr>
            <a:r>
              <a:rPr lang="en-ID" sz="3000" b="1" dirty="0" err="1">
                <a:latin typeface="Rubik"/>
                <a:cs typeface="Rubik"/>
              </a:rPr>
              <a:t>Evaluasi</a:t>
            </a:r>
            <a:r>
              <a:rPr lang="en-ID" sz="3000" b="1" dirty="0">
                <a:latin typeface="Rubik"/>
                <a:cs typeface="Rubik"/>
              </a:rPr>
              <a:t> Performa Model</a:t>
            </a:r>
          </a:p>
          <a:p>
            <a:pPr marL="57150">
              <a:buSzPts val="2700"/>
            </a:pP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     </a:t>
            </a:r>
            <a:r>
              <a:rPr lang="en-ID" sz="100" b="1" dirty="0">
                <a:solidFill>
                  <a:srgbClr val="11A1AD"/>
                </a:solidFill>
                <a:latin typeface="Rubik"/>
                <a:cs typeface="Rubik"/>
              </a:rPr>
              <a:t>          </a:t>
            </a: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(ROC-AUC)</a:t>
            </a:r>
            <a:endParaRPr lang="en-ID" sz="3000" b="1" dirty="0">
              <a:solidFill>
                <a:srgbClr val="11A1AD"/>
              </a:solidFill>
              <a:latin typeface="Rubik"/>
              <a:cs typeface="Rubik"/>
              <a:sym typeface="Rubi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74A1C-B514-4160-AA38-974580EEB4EB}"/>
              </a:ext>
            </a:extLst>
          </p:cNvPr>
          <p:cNvSpPr txBox="1"/>
          <p:nvPr/>
        </p:nvSpPr>
        <p:spPr>
          <a:xfrm>
            <a:off x="680482" y="2540890"/>
            <a:ext cx="8037019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5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D" sz="1500" dirty="0">
                <a:latin typeface="Nunito-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400" dirty="0">
              <a:solidFill>
                <a:schemeClr val="tx1"/>
              </a:solidFill>
              <a:latin typeface="Nunito-Sans"/>
            </a:endParaRPr>
          </a:p>
        </p:txBody>
      </p:sp>
    </p:spTree>
    <p:extLst>
      <p:ext uri="{BB962C8B-B14F-4D97-AF65-F5344CB8AC3E}">
        <p14:creationId xmlns:p14="http://schemas.microsoft.com/office/powerpoint/2010/main" val="2435441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77202" y="1663757"/>
            <a:ext cx="8340300" cy="249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D" sz="1500" dirty="0" err="1">
                <a:latin typeface="Nunito-Sans"/>
              </a:rPr>
              <a:t>Berdasarkan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ekstraksi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dari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algoritma</a:t>
            </a:r>
            <a:r>
              <a:rPr lang="en-ID" sz="1500" dirty="0">
                <a:latin typeface="Nunito-Sans"/>
              </a:rPr>
              <a:t>, </a:t>
            </a:r>
            <a:r>
              <a:rPr lang="en-ID" sz="1500" dirty="0" err="1">
                <a:latin typeface="Nunito-Sans"/>
              </a:rPr>
              <a:t>fitur</a:t>
            </a:r>
            <a:r>
              <a:rPr lang="en-ID" sz="1500" dirty="0">
                <a:latin typeface="Nunito-Sans"/>
              </a:rPr>
              <a:t> yang paling </a:t>
            </a:r>
            <a:r>
              <a:rPr lang="en-ID" sz="1500" dirty="0" err="1">
                <a:latin typeface="Nunito-Sans"/>
              </a:rPr>
              <a:t>menentukan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kemampuan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bayar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klien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adalah</a:t>
            </a:r>
            <a:r>
              <a:rPr lang="en-ID" sz="1500" dirty="0">
                <a:latin typeface="Nunito-Sans"/>
              </a:rPr>
              <a:t>: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ID" altLang="en-US" sz="1500" b="1" dirty="0">
              <a:solidFill>
                <a:schemeClr val="tx1"/>
              </a:solidFill>
              <a:latin typeface="Nunito-Sans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ID" altLang="en-US" sz="1500" b="1" dirty="0">
              <a:solidFill>
                <a:schemeClr val="tx1"/>
              </a:solidFill>
              <a:latin typeface="Nunito-Sans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ID" altLang="en-US" sz="1500" b="1" dirty="0">
              <a:solidFill>
                <a:schemeClr val="tx1"/>
              </a:solidFill>
              <a:latin typeface="Nunito-San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ID" altLang="en-US" sz="1500" b="1" dirty="0">
              <a:solidFill>
                <a:schemeClr val="tx1"/>
              </a:solidFill>
              <a:latin typeface="Nunito-Sans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ID" altLang="en-US" sz="1500" b="1" dirty="0">
              <a:solidFill>
                <a:schemeClr val="tx1"/>
              </a:solidFill>
              <a:latin typeface="Nunito-Sans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D" sz="1500" b="1" dirty="0" err="1">
                <a:latin typeface="Nunito-Sans"/>
              </a:rPr>
              <a:t>Rekomendasi</a:t>
            </a:r>
            <a:r>
              <a:rPr lang="en-ID" sz="1500" b="1" dirty="0">
                <a:latin typeface="Nunito-Sans"/>
              </a:rPr>
              <a:t> </a:t>
            </a:r>
            <a:r>
              <a:rPr lang="en-ID" sz="1500" b="1" dirty="0" err="1">
                <a:latin typeface="Nunito-Sans"/>
              </a:rPr>
              <a:t>Bisnis</a:t>
            </a:r>
            <a:r>
              <a:rPr lang="en-ID" sz="1500" b="1" dirty="0">
                <a:latin typeface="Nunito-Sans"/>
              </a:rPr>
              <a:t> </a:t>
            </a:r>
            <a:r>
              <a:rPr lang="en-ID" sz="1500" b="1" dirty="0" err="1">
                <a:latin typeface="Nunito-Sans"/>
              </a:rPr>
              <a:t>Lanjutan</a:t>
            </a:r>
            <a:r>
              <a:rPr lang="en-ID" sz="1500" b="1" dirty="0">
                <a:latin typeface="Nunito-Sans"/>
              </a:rPr>
              <a:t>:</a:t>
            </a:r>
            <a:r>
              <a:rPr lang="en-ID" sz="1500" dirty="0">
                <a:latin typeface="Nunito-Sans"/>
              </a:rPr>
              <a:t> Tim </a:t>
            </a:r>
            <a:r>
              <a:rPr lang="en-ID" sz="1500" i="1" dirty="0">
                <a:latin typeface="Nunito-Sans"/>
              </a:rPr>
              <a:t>Risk Management</a:t>
            </a:r>
            <a:r>
              <a:rPr lang="en-ID" sz="1500" dirty="0">
                <a:latin typeface="Nunito-Sans"/>
              </a:rPr>
              <a:t> (</a:t>
            </a:r>
            <a:r>
              <a:rPr lang="en-ID" sz="1500" dirty="0" err="1">
                <a:latin typeface="Nunito-Sans"/>
              </a:rPr>
              <a:t>Manajemen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Risiko</a:t>
            </a:r>
            <a:r>
              <a:rPr lang="en-ID" sz="1500" dirty="0">
                <a:latin typeface="Nunito-Sans"/>
              </a:rPr>
              <a:t>) </a:t>
            </a:r>
            <a:r>
              <a:rPr lang="en-ID" sz="1500" dirty="0" err="1">
                <a:latin typeface="Nunito-Sans"/>
              </a:rPr>
              <a:t>disarankan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untuk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memperbesar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bobot</a:t>
            </a:r>
            <a:r>
              <a:rPr lang="en-ID" sz="1500" dirty="0">
                <a:latin typeface="Nunito-Sans"/>
              </a:rPr>
              <a:t>/</a:t>
            </a:r>
            <a:r>
              <a:rPr lang="en-ID" sz="1500" dirty="0" err="1">
                <a:latin typeface="Nunito-Sans"/>
              </a:rPr>
              <a:t>skor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kriteria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i="1" dirty="0">
                <a:latin typeface="Nunito-Sans"/>
              </a:rPr>
              <a:t>Credit Scoring</a:t>
            </a:r>
            <a:r>
              <a:rPr lang="en-ID" sz="1500" dirty="0">
                <a:latin typeface="Nunito-Sans"/>
              </a:rPr>
              <a:t> manual pada </a:t>
            </a:r>
            <a:r>
              <a:rPr lang="en-ID" sz="1500" dirty="0" err="1">
                <a:latin typeface="Nunito-Sans"/>
              </a:rPr>
              <a:t>metrik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usia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produktif</a:t>
            </a:r>
            <a:r>
              <a:rPr lang="en-ID" sz="1500" dirty="0">
                <a:latin typeface="Nunito-Sans"/>
              </a:rPr>
              <a:t> dan </a:t>
            </a:r>
            <a:r>
              <a:rPr lang="en-ID" sz="1500" dirty="0" err="1">
                <a:latin typeface="Nunito-Sans"/>
              </a:rPr>
              <a:t>stabilitas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durasi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kerja</a:t>
            </a:r>
            <a:r>
              <a:rPr lang="en-ID" sz="1500" dirty="0">
                <a:latin typeface="Nunito-Sans"/>
              </a:rPr>
              <a:t>, </a:t>
            </a:r>
            <a:r>
              <a:rPr lang="en-ID" sz="1500" dirty="0" err="1">
                <a:latin typeface="Nunito-Sans"/>
              </a:rPr>
              <a:t>karena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kedua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faktor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tersebut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terbukti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secara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matematis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menjadi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benteng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terkuat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melawan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gagal</a:t>
            </a:r>
            <a:r>
              <a:rPr lang="en-ID" sz="1500" dirty="0">
                <a:latin typeface="Nunito-Sans"/>
              </a:rPr>
              <a:t> </a:t>
            </a:r>
            <a:r>
              <a:rPr lang="en-ID" sz="1500" dirty="0" err="1">
                <a:latin typeface="Nunito-Sans"/>
              </a:rPr>
              <a:t>bayar</a:t>
            </a:r>
            <a:r>
              <a:rPr lang="en-ID" sz="1500" dirty="0">
                <a:latin typeface="Nunito-Sans"/>
              </a:rPr>
              <a:t>.</a:t>
            </a:r>
            <a:endParaRPr lang="en-ID" altLang="en-US" sz="1500" b="1" dirty="0">
              <a:solidFill>
                <a:schemeClr val="tx1"/>
              </a:solidFill>
              <a:latin typeface="Nunito-Sans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452038"/>
            <a:ext cx="8463000" cy="110796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0" indent="-514350">
              <a:buSzPts val="2700"/>
              <a:buFont typeface="+mj-lt"/>
              <a:buAutoNum type="arabicPeriod" startAt="7"/>
            </a:pPr>
            <a:r>
              <a:rPr lang="en-ID" sz="3000" b="1" dirty="0">
                <a:latin typeface="Rubik"/>
                <a:cs typeface="Rubik"/>
              </a:rPr>
              <a:t>Feature Importance &amp;</a:t>
            </a:r>
          </a:p>
          <a:p>
            <a:pPr marL="57150">
              <a:buSzPts val="2700"/>
            </a:pP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     </a:t>
            </a:r>
            <a:r>
              <a:rPr lang="en-ID" sz="100" b="1" dirty="0">
                <a:solidFill>
                  <a:srgbClr val="11A1AD"/>
                </a:solidFill>
                <a:latin typeface="Rubik"/>
                <a:cs typeface="Rubik"/>
              </a:rPr>
              <a:t>          </a:t>
            </a:r>
            <a:r>
              <a:rPr lang="en-ID" sz="3000" b="1" dirty="0" err="1">
                <a:solidFill>
                  <a:srgbClr val="11A1AD"/>
                </a:solidFill>
                <a:latin typeface="Rubik"/>
                <a:cs typeface="Rubik"/>
              </a:rPr>
              <a:t>Bussiness</a:t>
            </a:r>
            <a:r>
              <a:rPr lang="en-ID" sz="3000" b="1" dirty="0">
                <a:solidFill>
                  <a:srgbClr val="11A1AD"/>
                </a:solidFill>
                <a:latin typeface="Rubik"/>
                <a:cs typeface="Rubik"/>
              </a:rPr>
              <a:t> Strategy</a:t>
            </a:r>
            <a:endParaRPr lang="en-ID" sz="3000" b="1" dirty="0">
              <a:solidFill>
                <a:srgbClr val="11A1AD"/>
              </a:solidFill>
              <a:latin typeface="Rubik"/>
              <a:cs typeface="Rubik"/>
              <a:sym typeface="Rubik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74A1C-B514-4160-AA38-974580EEB4EB}"/>
              </a:ext>
            </a:extLst>
          </p:cNvPr>
          <p:cNvSpPr txBox="1"/>
          <p:nvPr/>
        </p:nvSpPr>
        <p:spPr>
          <a:xfrm>
            <a:off x="680483" y="2174507"/>
            <a:ext cx="803701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5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DAYS_BIRTH_YEARS (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Umur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Klien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)</a:t>
            </a: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342900" lvl="5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DAYS_EMPLOYED_YEARS (Masa Kerja)</a:t>
            </a:r>
            <a:endParaRPr lang="en-US" altLang="en-US" sz="1500" dirty="0">
              <a:solidFill>
                <a:schemeClr val="tx1"/>
              </a:solidFill>
              <a:latin typeface="Nunito-Sans"/>
            </a:endParaRPr>
          </a:p>
          <a:p>
            <a:pPr marL="342900" lvl="5" indent="-3429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Histori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Pinjaman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 Eksternal (Data Biro)</a:t>
            </a:r>
            <a:endParaRPr lang="en-ID" sz="1500" dirty="0">
              <a:latin typeface="Nunito-Sans"/>
            </a:endParaRPr>
          </a:p>
        </p:txBody>
      </p:sp>
    </p:spTree>
    <p:extLst>
      <p:ext uri="{BB962C8B-B14F-4D97-AF65-F5344CB8AC3E}">
        <p14:creationId xmlns:p14="http://schemas.microsoft.com/office/powerpoint/2010/main" val="329679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265ee868302_0_99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265ee868302_0_99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265ee868302_0_99"/>
          <p:cNvSpPr txBox="1"/>
          <p:nvPr/>
        </p:nvSpPr>
        <p:spPr>
          <a:xfrm>
            <a:off x="340500" y="2198502"/>
            <a:ext cx="8340300" cy="1815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Isi </a:t>
            </a:r>
            <a:r>
              <a:rPr kumimoji="0" lang="en-US" altLang="en-US" sz="15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Repositori</a:t>
            </a:r>
            <a:r>
              <a:rPr kumimoji="0" lang="en-US" altLang="en-US" sz="15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unito-Sans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unito-Sans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500" dirty="0" err="1">
                <a:latin typeface="Nunito-Sans"/>
              </a:rPr>
              <a:t>Jupyter</a:t>
            </a:r>
            <a:r>
              <a:rPr lang="en-US" altLang="en-US" sz="1500" dirty="0">
                <a:latin typeface="Nunito-Sans"/>
              </a:rPr>
              <a:t> Notebook (Home </a:t>
            </a:r>
            <a:r>
              <a:rPr lang="en-US" altLang="en-US" sz="1500" dirty="0" err="1">
                <a:latin typeface="Nunito-Sans"/>
              </a:rPr>
              <a:t>Credit_Scorecard_Model.ipynb</a:t>
            </a:r>
            <a:r>
              <a:rPr lang="en-US" altLang="en-US" sz="1500" dirty="0">
                <a:latin typeface="Nunito-Sans"/>
              </a:rPr>
              <a:t>) </a:t>
            </a:r>
            <a:r>
              <a:rPr lang="en-US" altLang="en-US" sz="1500" dirty="0" err="1">
                <a:latin typeface="Nunito-Sans"/>
              </a:rPr>
              <a:t>berisi</a:t>
            </a:r>
            <a:r>
              <a:rPr lang="en-US" altLang="en-US" sz="1500" dirty="0">
                <a:latin typeface="Nunito-Sans"/>
              </a:rPr>
              <a:t> </a:t>
            </a:r>
            <a:r>
              <a:rPr lang="en-US" altLang="en-US" sz="1500" dirty="0" err="1">
                <a:latin typeface="Nunito-Sans"/>
              </a:rPr>
              <a:t>dokumentasi</a:t>
            </a:r>
            <a:r>
              <a:rPr lang="en-US" altLang="en-US" sz="1500" dirty="0">
                <a:latin typeface="Nunito-Sans"/>
              </a:rPr>
              <a:t> EDA, </a:t>
            </a:r>
            <a:r>
              <a:rPr lang="en-US" altLang="en-US" sz="1500" i="1" dirty="0">
                <a:latin typeface="Nunito-Sans"/>
              </a:rPr>
              <a:t>feature engineering</a:t>
            </a:r>
            <a:r>
              <a:rPr lang="en-US" altLang="en-US" sz="1500" dirty="0">
                <a:latin typeface="Nunito-Sans"/>
              </a:rPr>
              <a:t>, dan </a:t>
            </a:r>
            <a:r>
              <a:rPr lang="en-US" altLang="en-US" sz="1500" i="1" dirty="0">
                <a:latin typeface="Nunito-Sans"/>
              </a:rPr>
              <a:t>pipeline model</a:t>
            </a:r>
            <a:r>
              <a:rPr lang="en-US" altLang="en-US" sz="1500" dirty="0">
                <a:latin typeface="Nunito-Sans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500" dirty="0" err="1">
                <a:latin typeface="Nunito-Sans"/>
              </a:rPr>
              <a:t>Dokumentasi</a:t>
            </a:r>
            <a:r>
              <a:rPr lang="en-US" altLang="en-US" sz="1500" dirty="0">
                <a:latin typeface="Nunito-Sans"/>
              </a:rPr>
              <a:t> </a:t>
            </a:r>
            <a:r>
              <a:rPr lang="en-US" altLang="en-US" sz="1500" i="1" dirty="0">
                <a:latin typeface="Nunito-Sans"/>
              </a:rPr>
              <a:t>Enterprise-Grade README </a:t>
            </a:r>
            <a:r>
              <a:rPr lang="en-US" altLang="en-US" sz="1500" dirty="0" err="1">
                <a:latin typeface="Nunito-Sans"/>
              </a:rPr>
              <a:t>dengan</a:t>
            </a:r>
            <a:r>
              <a:rPr lang="en-US" altLang="en-US" sz="1500" dirty="0">
                <a:latin typeface="Nunito-Sans"/>
              </a:rPr>
              <a:t> </a:t>
            </a:r>
            <a:r>
              <a:rPr lang="en-US" altLang="en-US" sz="1500" dirty="0" err="1">
                <a:latin typeface="Nunito-Sans"/>
              </a:rPr>
              <a:t>pedoman</a:t>
            </a:r>
            <a:r>
              <a:rPr lang="en-US" altLang="en-US" sz="1500" dirty="0">
                <a:latin typeface="Nunito-Sans"/>
              </a:rPr>
              <a:t> </a:t>
            </a:r>
            <a:r>
              <a:rPr lang="en-US" altLang="en-US" sz="1500" dirty="0" err="1">
                <a:latin typeface="Nunito-Sans"/>
              </a:rPr>
              <a:t>reproduksi</a:t>
            </a:r>
            <a:r>
              <a:rPr lang="en-US" altLang="en-US" sz="1500" dirty="0">
                <a:latin typeface="Nunito-Sans"/>
              </a:rPr>
              <a:t> </a:t>
            </a:r>
            <a:r>
              <a:rPr lang="en-US" altLang="en-US" sz="1500" dirty="0" err="1">
                <a:latin typeface="Nunito-Sans"/>
              </a:rPr>
              <a:t>lokal</a:t>
            </a:r>
            <a:r>
              <a:rPr lang="en-US" altLang="en-US" sz="1500" dirty="0">
                <a:latin typeface="Nunito-Sans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endParaRPr lang="en-ID" altLang="en-US" sz="1500" b="1" dirty="0">
              <a:solidFill>
                <a:schemeClr val="tx1"/>
              </a:solidFill>
              <a:latin typeface="Nunito-Sans"/>
            </a:endParaRPr>
          </a:p>
        </p:txBody>
      </p:sp>
      <p:sp>
        <p:nvSpPr>
          <p:cNvPr id="112" name="Google Shape;112;g265ee868302_0_99"/>
          <p:cNvSpPr txBox="1"/>
          <p:nvPr/>
        </p:nvSpPr>
        <p:spPr>
          <a:xfrm>
            <a:off x="340500" y="1090537"/>
            <a:ext cx="8463000" cy="1107965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57150" algn="ctr">
              <a:buSzPts val="2700"/>
            </a:pPr>
            <a:r>
              <a:rPr lang="en-ID" sz="3000" b="1" dirty="0" err="1">
                <a:latin typeface="Rubik"/>
                <a:cs typeface="Rubik"/>
              </a:rPr>
              <a:t>Tautan</a:t>
            </a:r>
            <a:r>
              <a:rPr lang="en-ID" sz="3000" b="1" dirty="0">
                <a:latin typeface="Rubik"/>
                <a:cs typeface="Rubik"/>
              </a:rPr>
              <a:t> </a:t>
            </a:r>
            <a:r>
              <a:rPr lang="en-ID" sz="3000" b="1" dirty="0" err="1">
                <a:latin typeface="Rubik"/>
                <a:cs typeface="Rubik"/>
              </a:rPr>
              <a:t>Repositori</a:t>
            </a:r>
            <a:r>
              <a:rPr lang="en-ID" sz="3000" b="1" dirty="0">
                <a:latin typeface="Rubik"/>
                <a:cs typeface="Rubik"/>
              </a:rPr>
              <a:t> </a:t>
            </a:r>
          </a:p>
          <a:p>
            <a:pPr marL="57150" algn="ctr">
              <a:buSzPts val="2700"/>
            </a:pPr>
            <a:r>
              <a:rPr lang="en-ID" sz="3000" b="1" dirty="0" err="1">
                <a:solidFill>
                  <a:srgbClr val="11A1AD"/>
                </a:solidFill>
                <a:latin typeface="Rubik"/>
                <a:cs typeface="Rubik"/>
                <a:hlinkClick r:id="rId5"/>
              </a:rPr>
              <a:t>Portofolio</a:t>
            </a:r>
            <a:endParaRPr lang="en-ID" sz="3000" b="1" dirty="0">
              <a:solidFill>
                <a:srgbClr val="11A1AD"/>
              </a:solidFill>
              <a:latin typeface="Rubik"/>
              <a:cs typeface="Rubik"/>
              <a:sym typeface="Rubik"/>
            </a:endParaRPr>
          </a:p>
        </p:txBody>
      </p:sp>
    </p:spTree>
    <p:extLst>
      <p:ext uri="{BB962C8B-B14F-4D97-AF65-F5344CB8AC3E}">
        <p14:creationId xmlns:p14="http://schemas.microsoft.com/office/powerpoint/2010/main" val="1091421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g23ec2985a68_1_56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3ec2985a68_1_56"/>
          <p:cNvPicPr preferRelativeResize="0"/>
          <p:nvPr/>
        </p:nvPicPr>
        <p:blipFill rotWithShape="1">
          <a:blip r:embed="rId4">
            <a:alphaModFix/>
          </a:blip>
          <a:srcRect t="5658" b="5649"/>
          <a:stretch/>
        </p:blipFill>
        <p:spPr>
          <a:xfrm>
            <a:off x="7317600" y="185625"/>
            <a:ext cx="1399902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3ec2985a68_1_56"/>
          <p:cNvSpPr txBox="1"/>
          <p:nvPr/>
        </p:nvSpPr>
        <p:spPr>
          <a:xfrm>
            <a:off x="340500" y="452038"/>
            <a:ext cx="8463000" cy="6003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Rubik"/>
              <a:buAutoNum type="arabicPeriod" startAt="4"/>
            </a:pPr>
            <a:r>
              <a:rPr lang="en" sz="2700" b="1">
                <a:latin typeface="Rubik"/>
                <a:ea typeface="Rubik"/>
                <a:cs typeface="Rubik"/>
                <a:sym typeface="Rubik"/>
              </a:rPr>
              <a:t>Dashboard  Performance Analytics</a:t>
            </a:r>
            <a:endParaRPr sz="2700" b="1" i="0" u="none" strike="noStrike" cap="none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45" name="Google Shape;145;g23ec2985a68_1_56"/>
          <p:cNvSpPr txBox="1"/>
          <p:nvPr/>
        </p:nvSpPr>
        <p:spPr>
          <a:xfrm>
            <a:off x="340500" y="1335962"/>
            <a:ext cx="8463000" cy="1108200"/>
          </a:xfrm>
          <a:prstGeom prst="rect">
            <a:avLst/>
          </a:prstGeom>
          <a:noFill/>
          <a:ln>
            <a:noFill/>
          </a:ln>
          <a:effectLst>
            <a:outerShdw blurRad="57150" dist="19050" dir="2820000" algn="bl" rotWithShape="0">
              <a:srgbClr val="B7B7B7">
                <a:alpha val="85490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Result Here</a:t>
            </a:r>
            <a:endParaRPr sz="2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&lt;You should </a:t>
            </a:r>
            <a:r>
              <a:rPr lang="en"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explain your strategy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 on this page and you can add </a:t>
            </a:r>
            <a:r>
              <a:rPr lang="en" sz="1200" b="1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image or link </a:t>
            </a:r>
            <a:r>
              <a:rPr lang="en"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result. You can add an explanation of how you got the result also.&gt;</a:t>
            </a:r>
            <a:endParaRPr sz="2000"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AB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8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0" y="0"/>
            <a:ext cx="9144001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95425" y="4262625"/>
            <a:ext cx="1399901" cy="5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8"/>
          <p:cNvSpPr txBox="1"/>
          <p:nvPr/>
        </p:nvSpPr>
        <p:spPr>
          <a:xfrm>
            <a:off x="2376000" y="1939850"/>
            <a:ext cx="4392000" cy="877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" sz="4500" b="1" i="0" u="none" strike="noStrike" cap="none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Thank You</a:t>
            </a:r>
            <a:endParaRPr sz="2000" b="0" i="0" u="none" strike="noStrike" cap="non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153" name="Google Shape;153;p8"/>
          <p:cNvSpPr txBox="1"/>
          <p:nvPr/>
        </p:nvSpPr>
        <p:spPr>
          <a:xfrm>
            <a:off x="4314750" y="4248575"/>
            <a:ext cx="457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lang="en" sz="3000" b="0" i="0" u="none" strike="noStrike" cap="none">
                <a:solidFill>
                  <a:schemeClr val="lt1"/>
                </a:solidFill>
                <a:latin typeface="Rubik SemiBold"/>
                <a:ea typeface="Rubik SemiBold"/>
                <a:cs typeface="Rubik SemiBold"/>
                <a:sym typeface="Rubik SemiBold"/>
              </a:rPr>
              <a:t>X</a:t>
            </a:r>
            <a:endParaRPr sz="3000" b="0" i="0" u="none" strike="noStrike" cap="none">
              <a:solidFill>
                <a:schemeClr val="lt1"/>
              </a:solidFill>
              <a:latin typeface="Rubik SemiBold"/>
              <a:ea typeface="Rubik SemiBold"/>
              <a:cs typeface="Rubik SemiBold"/>
              <a:sym typeface="Rubik SemiBold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871775" y="4301225"/>
            <a:ext cx="1538100" cy="5412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rPr>
              <a:t>Logo Company</a:t>
            </a:r>
            <a:endParaRPr sz="1400" b="0" i="0" u="none" strike="noStrike" cap="none">
              <a:solidFill>
                <a:schemeClr val="lt1"/>
              </a:solidFill>
              <a:latin typeface="Rubik Medium"/>
              <a:ea typeface="Rubik Medium"/>
              <a:cs typeface="Rubik Medium"/>
              <a:sym typeface="Rubik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729</TotalTime>
  <Words>817</Words>
  <Application>Microsoft Office PowerPoint</Application>
  <PresentationFormat>On-screen Show (16:9)</PresentationFormat>
  <Paragraphs>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Rubik Medium</vt:lpstr>
      <vt:lpstr>Rubik</vt:lpstr>
      <vt:lpstr>Rubik SemiBold</vt:lpstr>
      <vt:lpstr>Nunito-Sans</vt:lpstr>
      <vt:lpstr>Arial</vt:lpstr>
      <vt:lpstr>Rubik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Made Agata Purwananda</cp:lastModifiedBy>
  <cp:revision>7</cp:revision>
  <dcterms:modified xsi:type="dcterms:W3CDTF">2026-09-19T10:48:09Z</dcterms:modified>
</cp:coreProperties>
</file>